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gwYIxFcOgxq2LnrIvDNCykrCuR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916ba9e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a916ba9e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2a7d93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a2a7d93f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16ba9e5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916ba9e5e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2a7d93f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a2a7d93f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2a7d93f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a2a7d93f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916ba9e5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916ba9e5e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916ba9e5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916ba9e5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916ba9e5e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916ba9e5e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a2a7d93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9a2a7d93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916ba9e5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916ba9e5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baf8534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abaf8534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916ba9e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916ba9e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916ba9e5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a916ba9e5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youtube.com/@KunalCholera" TargetMode="External"/><Relationship Id="rId4" Type="http://schemas.openxmlformats.org/officeDocument/2006/relationships/hyperlink" Target="https://www.youtube.com/@KunalCholera" TargetMode="External"/><Relationship Id="rId5" Type="http://schemas.openxmlformats.org/officeDocument/2006/relationships/hyperlink" Target="https://www.kunalcholera.com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88" y="609326"/>
            <a:ext cx="8945223" cy="392484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vi-VN" sz="2800"/>
              <a:t>Nội dung</a:t>
            </a:r>
            <a:endParaRPr/>
          </a:p>
        </p:txBody>
      </p:sp>
      <p:grpSp>
        <p:nvGrpSpPr>
          <p:cNvPr id="61" name="Google Shape;61;p2"/>
          <p:cNvGrpSpPr/>
          <p:nvPr/>
        </p:nvGrpSpPr>
        <p:grpSpPr>
          <a:xfrm>
            <a:off x="311700" y="1322488"/>
            <a:ext cx="8520600" cy="3035880"/>
            <a:chOff x="0" y="114263"/>
            <a:chExt cx="8520600" cy="3035880"/>
          </a:xfrm>
        </p:grpSpPr>
        <p:sp>
          <p:nvSpPr>
            <p:cNvPr id="62" name="Google Shape;62;p2"/>
            <p:cNvSpPr/>
            <p:nvPr/>
          </p:nvSpPr>
          <p:spPr>
            <a:xfrm>
              <a:off x="0" y="114263"/>
              <a:ext cx="8520600" cy="280799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 txBox="1"/>
            <p:nvPr/>
          </p:nvSpPr>
          <p:spPr>
            <a:xfrm>
              <a:off x="13707" y="127970"/>
              <a:ext cx="8493186" cy="253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vi-VN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1. Giới thiệu</a:t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0" y="395063"/>
              <a:ext cx="8520600" cy="298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 txBox="1"/>
            <p:nvPr/>
          </p:nvSpPr>
          <p:spPr>
            <a:xfrm>
              <a:off x="0" y="395063"/>
              <a:ext cx="8520600" cy="298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25" lIns="270525" spcFirstLastPara="1" rIns="85325" wrap="square" tIns="15225">
              <a:noAutofit/>
            </a:bodyPr>
            <a:lstStyle/>
            <a:p>
              <a:pPr indent="-571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Cơ sở dữ liệu nào phù hợp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Một số công nghệ phổ biến</a:t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0" y="693143"/>
              <a:ext cx="8520600" cy="280799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13707" y="706850"/>
              <a:ext cx="8493186" cy="253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vi-VN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2. Phân loại Hệ thống dữ liệu theo Tải làm việc</a:t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0" y="973943"/>
              <a:ext cx="8520600" cy="44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 txBox="1"/>
            <p:nvPr/>
          </p:nvSpPr>
          <p:spPr>
            <a:xfrm>
              <a:off x="0" y="973943"/>
              <a:ext cx="8520600" cy="44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25" lIns="270525" spcFirstLastPara="1" rIns="85325" wrap="square" tIns="15225">
              <a:noAutofit/>
            </a:bodyPr>
            <a:lstStyle/>
            <a:p>
              <a:pPr indent="-571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Hệ thống xử lí giao dịch trực tuyến (OLTP)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Hệ thống Xử lý Phân tích Trực tuyến (OLAP)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 sánh OLTP và OLAP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0" y="1421063"/>
              <a:ext cx="8520600" cy="280799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 txBox="1"/>
            <p:nvPr/>
          </p:nvSpPr>
          <p:spPr>
            <a:xfrm>
              <a:off x="13707" y="1434770"/>
              <a:ext cx="8493186" cy="253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vi-VN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3. Cấu trúc dữ liệu của Cơ sở dữ liệu(OLTP)</a:t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0" y="1701863"/>
              <a:ext cx="8520600" cy="583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 txBox="1"/>
            <p:nvPr/>
          </p:nvSpPr>
          <p:spPr>
            <a:xfrm>
              <a:off x="0" y="1701863"/>
              <a:ext cx="8520600" cy="583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25" lIns="270525" spcFirstLastPara="1" rIns="85325" wrap="square" tIns="15225">
              <a:noAutofit/>
            </a:bodyPr>
            <a:lstStyle/>
            <a:p>
              <a:pPr indent="-571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Chỉ mục Hash (Hash Indexes)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SSTables và LSM-Trees (Log-Structured Merge-Trees)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B-Trees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 sánh B-Trees và LSM-Trees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0" y="2285604"/>
              <a:ext cx="8520600" cy="280799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13707" y="2299311"/>
              <a:ext cx="8493186" cy="2533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vi-VN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4. Lưu trữ và Truy xuất cho Phân tích (OLAP)</a:t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0" y="2566403"/>
              <a:ext cx="8520600" cy="583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0" y="2566403"/>
              <a:ext cx="8520600" cy="583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5225" lIns="270525" spcFirstLastPara="1" rIns="85325" wrap="square" tIns="15225">
              <a:noAutofit/>
            </a:bodyPr>
            <a:lstStyle/>
            <a:p>
              <a:pPr indent="-57150" lvl="1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 Warehouse và ETL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Lược đồ Sao và Bông Tuyết (Stars and Snowflakes)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Lưu trữ Hướng Cột (Column-Oriented Storage)</a:t>
              </a:r>
              <a:endParaRPr/>
            </a:p>
            <a:p>
              <a:pPr indent="-57150" lvl="1" marL="5715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AutoNum type="alphaLcParenR"/>
              </a:pPr>
              <a:r>
                <a:rPr b="0" i="0" lang="vi-VN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Khối Dữ liệu và Khung nhìn Vật lý hóa (Aggregation: Data Cubes and Materialized Views)</a:t>
              </a:r>
              <a:endParaRPr/>
            </a:p>
          </p:txBody>
        </p:sp>
      </p:grpSp>
      <p:sp>
        <p:nvSpPr>
          <p:cNvPr id="78" name="Google Shape;7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/>
              <a:t>Giới thiệu</a:t>
            </a:r>
            <a:endParaRPr/>
          </a:p>
        </p:txBody>
      </p:sp>
      <p:sp>
        <p:nvSpPr>
          <p:cNvPr id="84" name="Google Shape;84;p3"/>
          <p:cNvSpPr txBox="1"/>
          <p:nvPr>
            <p:ph idx="4294967295" type="body"/>
          </p:nvPr>
        </p:nvSpPr>
        <p:spPr>
          <a:xfrm>
            <a:off x="311700" y="1208225"/>
            <a:ext cx="4069800" cy="32644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4467"/>
              <a:buChar char="●"/>
            </a:pPr>
            <a:r>
              <a:rPr b="0" i="0" lang="vi-VN" sz="1700" u="none" cap="none" strike="noStrike">
                <a:solidFill>
                  <a:schemeClr val="dk1"/>
                </a:solidFill>
              </a:rPr>
              <a:t>Cả công nghệ SQL và NoSQL đều được tối ưu hóa cho từng trường hợp khác nhau. Cần chọn công nghệ phù hợp vào yêu cầu hệ thống.</a:t>
            </a:r>
            <a:endParaRPr/>
          </a:p>
          <a:p>
            <a:pPr indent="-2286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14467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14467"/>
              <a:buChar char="●"/>
            </a:pPr>
            <a:r>
              <a:rPr b="0" i="0" lang="vi-VN" sz="1700" u="none" cap="none" strike="noStrike">
                <a:solidFill>
                  <a:schemeClr val="dk1"/>
                </a:solidFill>
              </a:rPr>
              <a:t>Là một nhà phát triển ứng dụng, chúng ta cần có ý tưởng sơ bộ về chức năng của công cụ lưu trữ để có thể lựa chọn đúng.</a:t>
            </a:r>
            <a:endParaRPr/>
          </a:p>
          <a:p>
            <a:pPr indent="-2286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14467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14467"/>
              <a:buChar char="●"/>
            </a:pPr>
            <a:r>
              <a:rPr b="0" i="0" lang="vi-VN" sz="1700" u="none" cap="none" strike="noStrike">
                <a:solidFill>
                  <a:schemeClr val="dk1"/>
                </a:solidFill>
              </a:rPr>
              <a:t>Điều chỉnh và tối ưu hóa.</a:t>
            </a:r>
            <a:endParaRPr/>
          </a:p>
          <a:p>
            <a:pPr indent="-228600" lvl="0" marL="45720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14467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14467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</a:endParaRPr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3">
            <a:alphaModFix/>
          </a:blip>
          <a:srcRect b="-2" l="4313" r="-1" t="0"/>
          <a:stretch/>
        </p:blipFill>
        <p:spPr>
          <a:xfrm>
            <a:off x="4762500" y="1208225"/>
            <a:ext cx="406980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3" y="0"/>
            <a:ext cx="91224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2 – a) Hệ thống xử </a:t>
            </a:r>
            <a:r>
              <a:rPr lang="vi-VN"/>
              <a:t>lý</a:t>
            </a:r>
            <a:r>
              <a:rPr lang="vi-VN"/>
              <a:t> giao dịch trực tuyến (OLTP)</a:t>
            </a:r>
            <a:br>
              <a:rPr lang="vi-VN"/>
            </a:br>
            <a:endParaRPr/>
          </a:p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Thường xuyên đối diện với </a:t>
            </a:r>
            <a:r>
              <a:rPr b="1" lang="vi-VN"/>
              <a:t>lượng yêu cầu lớn </a:t>
            </a:r>
            <a:r>
              <a:rPr lang="vi-VN"/>
              <a:t>từ người dùng cuối, thường là các ứng dụng tương tác.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Mỗi truy vấn thường chỉ chạm vào một </a:t>
            </a:r>
            <a:r>
              <a:rPr b="1" lang="vi-VN"/>
              <a:t>số lượng nhỏ các bản ghi</a:t>
            </a:r>
            <a:r>
              <a:rPr lang="vi-VN"/>
              <a:t>, được truy xuất thông qua khóa.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Vấn đề khó khăn cho phương pháp này thường là </a:t>
            </a:r>
            <a:r>
              <a:rPr b="1" lang="vi-VN"/>
              <a:t>thời gian truy vấn</a:t>
            </a:r>
            <a:r>
              <a:rPr lang="vi-VN"/>
              <a:t>, tìm kiếm trên đĩa(disk seek time).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2 – b) Hệ thống Xử lý Phân tích Trực tuyến (OLAP)</a:t>
            </a:r>
            <a:br>
              <a:rPr lang="vi-VN"/>
            </a:br>
            <a:endParaRPr/>
          </a:p>
        </p:txBody>
      </p:sp>
      <p:sp>
        <p:nvSpPr>
          <p:cNvPr id="105" name="Google Shape;10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Xử lí khối lượng truy vấn thấp hơn, nhưng lại </a:t>
            </a:r>
            <a:r>
              <a:rPr b="1" lang="vi-VN"/>
              <a:t>khó trong việc truy vấn với hàng triệu bản ghi</a:t>
            </a:r>
            <a:r>
              <a:rPr lang="vi-VN"/>
              <a:t> trong từng truy vấn trong thời gian ngắn.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Thường </a:t>
            </a:r>
            <a:r>
              <a:rPr b="1" lang="vi-VN"/>
              <a:t>được sử dụng bởi các nhà phân tích nghiệp vụ </a:t>
            </a:r>
            <a:r>
              <a:rPr lang="vi-VN"/>
              <a:t>nhằm phục vụ việc phân tích, báo cáo, dự báo,... Từ đó có thể đưa ra các định hướng cho doanh nghiệp.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Vấn đề khó khăn chính của phương pháp này thường là </a:t>
            </a:r>
            <a:r>
              <a:rPr b="1" lang="vi-VN"/>
              <a:t>băng thông đĩa (disk bandwidth) </a:t>
            </a:r>
            <a:r>
              <a:rPr lang="vi-VN"/>
              <a:t>vì dữ liệu thường là dữ liệu tổng hợp, chứa nhiều năm dữ liệu lịch sử.</a:t>
            </a:r>
            <a:endParaRPr/>
          </a:p>
        </p:txBody>
      </p:sp>
      <p:sp>
        <p:nvSpPr>
          <p:cNvPr id="106" name="Google Shape;10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2 – c) So sánh OLTP và OLAP</a:t>
            </a:r>
            <a:br>
              <a:rPr lang="vi-VN"/>
            </a:br>
            <a:endParaRPr/>
          </a:p>
        </p:txBody>
      </p:sp>
      <p:pic>
        <p:nvPicPr>
          <p:cNvPr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08811"/>
            <a:ext cx="9144000" cy="21258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a) Chỉ mục Hash (Hash Indexes)</a:t>
            </a:r>
            <a:br>
              <a:rPr lang="vi-VN"/>
            </a:br>
            <a:endParaRPr/>
          </a:p>
        </p:txBody>
      </p:sp>
      <p:sp>
        <p:nvSpPr>
          <p:cNvPr id="119" name="Google Shape;119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Đây là chiến lược lập chỉ mục đơn giản nhất, thường giữ một </a:t>
            </a:r>
            <a:r>
              <a:rPr b="1" lang="vi-VN"/>
              <a:t>bản đồ băm (hash map)</a:t>
            </a:r>
            <a:r>
              <a:rPr lang="vi-VN"/>
              <a:t> trong bộ nhớ, </a:t>
            </a:r>
            <a:r>
              <a:rPr b="1" lang="vi-VN"/>
              <a:t>ánh xạ khóa </a:t>
            </a:r>
            <a:r>
              <a:rPr lang="vi-VN"/>
              <a:t>tới vị trí byte trong tệp dữ liệu.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Các cơ sở dữ liệu thường </a:t>
            </a:r>
            <a:r>
              <a:rPr b="1" lang="vi-VN"/>
              <a:t>sử dụng log (một tệp dữ liệu chỉ ghi thêm) </a:t>
            </a:r>
            <a:r>
              <a:rPr lang="vi-VN"/>
              <a:t>và định kỳ thực hiện </a:t>
            </a:r>
            <a:r>
              <a:rPr b="1" lang="vi-VN"/>
              <a:t>compaction (loại bỏ các khóa trùng lặp và chỉ giữ lại bản cập nhật gần nhất)</a:t>
            </a:r>
            <a:r>
              <a:rPr lang="vi-VN"/>
              <a:t> để tránh hết dung lượng đĩa.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Sử dụng </a:t>
            </a:r>
            <a:r>
              <a:rPr b="1" lang="vi-VN"/>
              <a:t>hash function </a:t>
            </a:r>
            <a:r>
              <a:rPr lang="vi-VN"/>
              <a:t>để tính toán </a:t>
            </a:r>
            <a:r>
              <a:rPr b="1" lang="vi-VN"/>
              <a:t>index</a:t>
            </a:r>
            <a:r>
              <a:rPr lang="vi-VN"/>
              <a:t> vào một mảng các </a:t>
            </a:r>
            <a:r>
              <a:rPr b="1" lang="vi-VN"/>
              <a:t>buckets</a:t>
            </a:r>
            <a:r>
              <a:rPr lang="vi-VN"/>
              <a:t>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a) Chỉ mục Hash (Hash Indexes)</a:t>
            </a:r>
            <a:br>
              <a:rPr lang="vi-VN"/>
            </a:br>
            <a:endParaRPr/>
          </a:p>
        </p:txBody>
      </p:sp>
      <p:pic>
        <p:nvPicPr>
          <p:cNvPr id="126" name="Google Shape;1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17725"/>
            <a:ext cx="9144000" cy="4599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916ba9e5e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a) Chỉ mục Hash (Hash Indexes)</a:t>
            </a:r>
            <a:br>
              <a:rPr lang="vi-VN"/>
            </a:br>
            <a:endParaRPr/>
          </a:p>
        </p:txBody>
      </p:sp>
      <p:pic>
        <p:nvPicPr>
          <p:cNvPr id="133" name="Google Shape;133;g3a916ba9e5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950" y="1070150"/>
            <a:ext cx="7541600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a916ba9e5e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</a:t>
            </a:r>
            <a:r>
              <a:rPr lang="vi-VN"/>
              <a:t>à LSM-Trees</a:t>
            </a:r>
            <a:endParaRPr/>
          </a:p>
        </p:txBody>
      </p:sp>
      <p:sp>
        <p:nvSpPr>
          <p:cNvPr id="140" name="Google Shape;140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Cải tiến từ log-structured storage bằng cách yêu cầu các cặp </a:t>
            </a:r>
            <a:r>
              <a:rPr b="1" lang="vi-VN"/>
              <a:t>khóa-giá trị phải được sắp xếp</a:t>
            </a:r>
            <a:r>
              <a:rPr lang="vi-VN"/>
              <a:t> theo khóa trong mỗi </a:t>
            </a:r>
            <a:r>
              <a:rPr b="1" lang="vi-VN"/>
              <a:t>phân đoạn (segment)</a:t>
            </a:r>
            <a:r>
              <a:rPr lang="vi-VN"/>
              <a:t>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Việc sắp xếp cho phép sử dụng </a:t>
            </a:r>
            <a:r>
              <a:rPr b="1" lang="vi-VN"/>
              <a:t>chỉ mục thưa (sparse index) </a:t>
            </a:r>
            <a:r>
              <a:rPr lang="vi-VN"/>
              <a:t>trong bộ nhớ, giúp tiết kiệm bộ nhớ và </a:t>
            </a:r>
            <a:r>
              <a:rPr b="1" lang="vi-VN"/>
              <a:t>hỗ trợ nén (compression) </a:t>
            </a:r>
            <a:r>
              <a:rPr lang="vi-VN"/>
              <a:t>các khối dữ liệu.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-VN"/>
              <a:t>LSM-Trees</a:t>
            </a:r>
            <a:r>
              <a:rPr lang="vi-VN"/>
              <a:t> được xây dựng trên nguyên tắc </a:t>
            </a:r>
            <a:r>
              <a:rPr b="1" lang="vi-VN"/>
              <a:t>hợp nhất (merging) </a:t>
            </a:r>
            <a:r>
              <a:rPr lang="vi-VN"/>
              <a:t>và </a:t>
            </a:r>
            <a:r>
              <a:rPr b="1" lang="vi-VN"/>
              <a:t>nén (compacting) </a:t>
            </a:r>
            <a:r>
              <a:rPr lang="vi-VN"/>
              <a:t>các tệp </a:t>
            </a:r>
            <a:r>
              <a:rPr b="1" lang="vi-VN"/>
              <a:t>SSTable đã sắp xếp</a:t>
            </a:r>
            <a:r>
              <a:rPr lang="vi-VN"/>
              <a:t>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2a7d93f5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và LSM-Trees</a:t>
            </a:r>
            <a:endParaRPr/>
          </a:p>
        </p:txBody>
      </p:sp>
      <p:sp>
        <p:nvSpPr>
          <p:cNvPr id="147" name="Google Shape;147;g39a2a7d93f5_0_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Là một file chứa một chuỗi các cặp </a:t>
            </a:r>
            <a:r>
              <a:rPr b="1" lang="vi-VN"/>
              <a:t>key-value</a:t>
            </a:r>
            <a:r>
              <a:rPr lang="vi-VN"/>
              <a:t> được sắp xếp theo </a:t>
            </a:r>
            <a:r>
              <a:rPr b="1" lang="vi-VN"/>
              <a:t>key</a:t>
            </a:r>
            <a:r>
              <a:rPr lang="vi-VN"/>
              <a:t> </a:t>
            </a:r>
            <a:r>
              <a:rPr lang="vi-VN"/>
              <a:t>trong mỗi </a:t>
            </a:r>
            <a:r>
              <a:rPr b="1" lang="vi-VN"/>
              <a:t>phân đoạn (segment) </a:t>
            </a:r>
            <a:r>
              <a:rPr lang="vi-VN"/>
              <a:t>được c</a:t>
            </a:r>
            <a:r>
              <a:rPr lang="vi-VN"/>
              <a:t>ải tiến từ log-structured storage.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Việc sắp xếp cho phép sử dụng </a:t>
            </a:r>
            <a:r>
              <a:rPr b="1" lang="vi-VN"/>
              <a:t>chỉ mục thưa (sparse index) </a:t>
            </a:r>
            <a:r>
              <a:rPr lang="vi-VN"/>
              <a:t>trong bộ nhớ, giúp tiết kiệm bộ nhớ và </a:t>
            </a:r>
            <a:r>
              <a:rPr b="1" lang="vi-VN"/>
              <a:t>hỗ trợ nén (compression) </a:t>
            </a:r>
            <a:r>
              <a:rPr lang="vi-VN"/>
              <a:t>các khối dữ liệu.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-VN"/>
              <a:t>LSM-Trees</a:t>
            </a:r>
            <a:r>
              <a:rPr lang="vi-VN"/>
              <a:t> được xây dựng trên nguyên tắc </a:t>
            </a:r>
            <a:r>
              <a:rPr b="1" lang="vi-VN"/>
              <a:t>hợp nhất (merging) </a:t>
            </a:r>
            <a:r>
              <a:rPr lang="vi-VN"/>
              <a:t>và </a:t>
            </a:r>
            <a:r>
              <a:rPr b="1" lang="vi-VN"/>
              <a:t>nén (compacting) </a:t>
            </a:r>
            <a:r>
              <a:rPr lang="vi-VN"/>
              <a:t>các tệp </a:t>
            </a:r>
            <a:r>
              <a:rPr b="1" lang="vi-VN"/>
              <a:t>SSTable đã sắp xếp</a:t>
            </a:r>
            <a:r>
              <a:rPr lang="vi-VN"/>
              <a:t>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8" name="Google Shape;148;g39a2a7d93f5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916ba9e5e_2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và LSM-Trees</a:t>
            </a:r>
            <a:endParaRPr/>
          </a:p>
        </p:txBody>
      </p:sp>
      <p:pic>
        <p:nvPicPr>
          <p:cNvPr id="154" name="Google Shape;154;g3a916ba9e5e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850" y="906900"/>
            <a:ext cx="6376294" cy="42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a916ba9e5e_2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và LSM-Trees</a:t>
            </a:r>
            <a:endParaRPr/>
          </a:p>
        </p:txBody>
      </p:sp>
      <p:sp>
        <p:nvSpPr>
          <p:cNvPr id="161" name="Google Shape;1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62" name="Google Shape;1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063" y="1159250"/>
            <a:ext cx="774787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2a7d93f5_0_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và LSM-Trees</a:t>
            </a:r>
            <a:endParaRPr/>
          </a:p>
        </p:txBody>
      </p:sp>
      <p:sp>
        <p:nvSpPr>
          <p:cNvPr id="168" name="Google Shape;168;g39a2a7d93f5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69" name="Google Shape;169;g39a2a7d93f5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525" y="1191875"/>
            <a:ext cx="654294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a2a7d93f5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và LSM-Trees</a:t>
            </a:r>
            <a:endParaRPr/>
          </a:p>
        </p:txBody>
      </p:sp>
      <p:pic>
        <p:nvPicPr>
          <p:cNvPr id="175" name="Google Shape;175;g39a2a7d93f5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264" y="1056256"/>
            <a:ext cx="7663471" cy="37679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9a2a7d93f5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916ba9e5e_2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b) SSTables và LSM-Trees</a:t>
            </a:r>
            <a:endParaRPr/>
          </a:p>
        </p:txBody>
      </p:sp>
      <p:pic>
        <p:nvPicPr>
          <p:cNvPr id="182" name="Google Shape;182;g3a916ba9e5e_2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675" y="1159250"/>
            <a:ext cx="7614656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a916ba9e5e_2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c) B-Trees</a:t>
            </a:r>
            <a:br>
              <a:rPr lang="vi-VN"/>
            </a:b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B-trees chia cơ sở dữ liệu thành </a:t>
            </a:r>
            <a:r>
              <a:rPr b="1" lang="vi-VN"/>
              <a:t>các khối (blocks) hoặc trang (pages) </a:t>
            </a:r>
            <a:r>
              <a:rPr lang="vi-VN"/>
              <a:t>có </a:t>
            </a:r>
            <a:r>
              <a:rPr b="1" lang="vi-VN"/>
              <a:t>kích thước cố định</a:t>
            </a:r>
            <a:r>
              <a:rPr lang="vi-VN"/>
              <a:t> (thường là 4KB), và sử dụng các </a:t>
            </a:r>
            <a:r>
              <a:rPr b="1" lang="vi-VN"/>
              <a:t>tham chiếu trang </a:t>
            </a:r>
            <a:r>
              <a:rPr lang="vi-VN"/>
              <a:t>để tạo thành một cấu trúc </a:t>
            </a:r>
            <a:r>
              <a:rPr b="1" lang="vi-VN"/>
              <a:t>cây cân bằng (balanced tree).</a:t>
            </a:r>
            <a:endParaRPr b="1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Để duy trì độ tin cậy, B-Trees thường sử dụng </a:t>
            </a:r>
            <a:r>
              <a:rPr b="1" lang="vi-VN"/>
              <a:t>write-ahead log (WAL) </a:t>
            </a:r>
            <a:r>
              <a:rPr lang="vi-VN"/>
              <a:t>để phục hồi sau sự cố.</a:t>
            </a:r>
            <a:endParaRPr/>
          </a:p>
        </p:txBody>
      </p:sp>
      <p:sp>
        <p:nvSpPr>
          <p:cNvPr id="190" name="Google Shape;19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c) B-Trees</a:t>
            </a:r>
            <a:endParaRPr/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784" y="1056256"/>
            <a:ext cx="7558431" cy="376797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916ba9e5e_2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c) B-Trees</a:t>
            </a:r>
            <a:endParaRPr/>
          </a:p>
        </p:txBody>
      </p:sp>
      <p:pic>
        <p:nvPicPr>
          <p:cNvPr id="203" name="Google Shape;203;g3a916ba9e5e_2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251" y="1017725"/>
            <a:ext cx="7359500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a916ba9e5e_2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916ba9e5e_2_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c) B-Trees</a:t>
            </a:r>
            <a:endParaRPr/>
          </a:p>
        </p:txBody>
      </p:sp>
      <p:sp>
        <p:nvSpPr>
          <p:cNvPr id="210" name="Google Shape;210;g3a916ba9e5e_2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211" name="Google Shape;211;g3a916ba9e5e_2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838" y="876525"/>
            <a:ext cx="7338332" cy="412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3 – d) So sánh B-Trees và LSM-Trees</a:t>
            </a:r>
            <a:br>
              <a:rPr lang="vi-VN"/>
            </a:br>
            <a:endParaRPr/>
          </a:p>
        </p:txBody>
      </p:sp>
      <p:pic>
        <p:nvPicPr>
          <p:cNvPr id="217" name="Google Shape;2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056256"/>
            <a:ext cx="5181600" cy="376797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a) Data Warehouse và ETL</a:t>
            </a:r>
            <a:br>
              <a:rPr lang="vi-VN"/>
            </a:br>
            <a:endParaRPr/>
          </a:p>
        </p:txBody>
      </p:sp>
      <p:sp>
        <p:nvSpPr>
          <p:cNvPr id="224" name="Google Shape;22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Data Warehousing là nơi dữ liệu từ </a:t>
            </a:r>
            <a:r>
              <a:rPr b="1" lang="vi-VN"/>
              <a:t>các hệ thống OLTP khác nhau </a:t>
            </a:r>
            <a:r>
              <a:rPr lang="vi-VN"/>
              <a:t>được </a:t>
            </a:r>
            <a:r>
              <a:rPr b="1" lang="vi-VN"/>
              <a:t>kết hợp</a:t>
            </a:r>
            <a:r>
              <a:rPr lang="vi-VN"/>
              <a:t> và chuẩn bị cho mục đích phân tích thông qua quy trình Extract-Transform–Load (ETL).</a:t>
            </a:r>
            <a:endParaRPr/>
          </a:p>
        </p:txBody>
      </p:sp>
      <p:sp>
        <p:nvSpPr>
          <p:cNvPr id="225" name="Google Shape;22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a) Data Warehouse và ETL</a:t>
            </a:r>
            <a:br>
              <a:rPr lang="vi-VN"/>
            </a:br>
            <a:endParaRPr/>
          </a:p>
        </p:txBody>
      </p:sp>
      <p:pic>
        <p:nvPicPr>
          <p:cNvPr id="231" name="Google Shape;2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461" y="1056256"/>
            <a:ext cx="7253076" cy="376797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a2a7d93f5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a) Data Warehouse và ETL</a:t>
            </a:r>
            <a:br>
              <a:rPr lang="vi-VN"/>
            </a:br>
            <a:endParaRPr/>
          </a:p>
        </p:txBody>
      </p:sp>
      <p:sp>
        <p:nvSpPr>
          <p:cNvPr id="238" name="Google Shape;238;g39a2a7d93f5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239" name="Google Shape;239;g39a2a7d93f5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900" y="1017725"/>
            <a:ext cx="5509601" cy="39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b) Lược đồ Sao và Bông Tuyết</a:t>
            </a:r>
            <a:br>
              <a:rPr lang="vi-VN"/>
            </a:br>
            <a:endParaRPr/>
          </a:p>
        </p:txBody>
      </p:sp>
      <p:sp>
        <p:nvSpPr>
          <p:cNvPr id="245" name="Google Shape;24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Đây là các mô hình lược đồ phổ biến cho phân tích, với một </a:t>
            </a:r>
            <a:r>
              <a:rPr b="1" lang="vi-VN"/>
              <a:t>bảng sự kiện (fact table)</a:t>
            </a:r>
            <a:r>
              <a:rPr lang="vi-VN"/>
              <a:t> lớn ở trung tâm (ví dụ: các giao dịch bán hàng) </a:t>
            </a:r>
            <a:r>
              <a:rPr b="1" lang="vi-VN"/>
              <a:t>liên kết </a:t>
            </a:r>
            <a:r>
              <a:rPr lang="vi-VN"/>
              <a:t>đến nhiều </a:t>
            </a:r>
            <a:r>
              <a:rPr b="1" lang="vi-VN"/>
              <a:t>bảng chiều (dimension tables) </a:t>
            </a:r>
            <a:r>
              <a:rPr lang="vi-VN"/>
              <a:t>(ví dụ: sản phẩm, ngày, cửa hàng).</a:t>
            </a:r>
            <a:endParaRPr/>
          </a:p>
        </p:txBody>
      </p:sp>
      <p:sp>
        <p:nvSpPr>
          <p:cNvPr id="246" name="Google Shape;24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b) Lược đồ Sao và Bông Tuyết</a:t>
            </a:r>
            <a:br>
              <a:rPr lang="vi-VN"/>
            </a:br>
            <a:endParaRPr/>
          </a:p>
        </p:txBody>
      </p:sp>
      <p:pic>
        <p:nvPicPr>
          <p:cNvPr id="252" name="Google Shape;2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0585" y="1056256"/>
            <a:ext cx="5382827" cy="376797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916ba9e5e_0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b) Lược đồ Sao và Bông Tuyết</a:t>
            </a:r>
            <a:br>
              <a:rPr lang="vi-VN"/>
            </a:br>
            <a:endParaRPr/>
          </a:p>
        </p:txBody>
      </p:sp>
      <p:sp>
        <p:nvSpPr>
          <p:cNvPr id="259" name="Google Shape;259;g3a916ba9e5e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260" name="Google Shape;260;g3a916ba9e5e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00" y="1082388"/>
            <a:ext cx="3873940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a916ba9e5e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8665" y="1322525"/>
            <a:ext cx="4151155" cy="3340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c) Lưu trữ Hướng Cột</a:t>
            </a:r>
            <a:br>
              <a:rPr lang="vi-VN"/>
            </a:br>
            <a:endParaRPr/>
          </a:p>
        </p:txBody>
      </p:sp>
      <p:sp>
        <p:nvSpPr>
          <p:cNvPr id="267" name="Google Shape;26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268" name="Google Shape;2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50" y="1170125"/>
            <a:ext cx="8296052" cy="3340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baf853488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c) Lưu trữ Hướng Cột</a:t>
            </a:r>
            <a:br>
              <a:rPr lang="vi-VN"/>
            </a:br>
            <a:endParaRPr/>
          </a:p>
        </p:txBody>
      </p:sp>
      <p:sp>
        <p:nvSpPr>
          <p:cNvPr id="274" name="Google Shape;274;g3abaf853488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Thay vì lưu trữ tất cả các giá trị của một hàng (row) liền kề nhau (hướng hàng), lưu trữ hướng cột </a:t>
            </a:r>
            <a:r>
              <a:rPr b="1" lang="vi-VN"/>
              <a:t>lưu trữ tất cả các giá trị </a:t>
            </a:r>
            <a:r>
              <a:rPr lang="vi-VN"/>
              <a:t>của </a:t>
            </a:r>
            <a:r>
              <a:rPr b="1" lang="vi-VN"/>
              <a:t>một cột liền kề </a:t>
            </a:r>
            <a:r>
              <a:rPr lang="vi-VN"/>
              <a:t>nhau.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Lợi ích chính là </a:t>
            </a:r>
            <a:r>
              <a:rPr b="1" lang="vi-VN"/>
              <a:t>chỉ cần tải các cột cần thiết cho truy vấn</a:t>
            </a:r>
            <a:r>
              <a:rPr lang="vi-VN"/>
              <a:t>, giảm đáng kể yêu cầu về </a:t>
            </a:r>
            <a:r>
              <a:rPr b="1" lang="vi-VN"/>
              <a:t>băng thông đĩa</a:t>
            </a:r>
            <a:r>
              <a:rPr lang="vi-VN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Cấu trúc này rất phù hợp cho </a:t>
            </a:r>
            <a:r>
              <a:rPr b="1" lang="vi-VN"/>
              <a:t>Nén cột (Column Compression) </a:t>
            </a:r>
            <a:r>
              <a:rPr lang="vi-VN"/>
              <a:t>vì các giá trị trong một cột thường </a:t>
            </a:r>
            <a:r>
              <a:rPr b="1" lang="vi-VN"/>
              <a:t>lặp lại </a:t>
            </a:r>
            <a:r>
              <a:rPr lang="vi-VN"/>
              <a:t>hoặc có tính </a:t>
            </a:r>
            <a:r>
              <a:rPr b="1" lang="vi-VN"/>
              <a:t>đồng nhất cao</a:t>
            </a:r>
            <a:r>
              <a:rPr lang="vi-VN"/>
              <a:t>.</a:t>
            </a:r>
            <a:endParaRPr/>
          </a:p>
        </p:txBody>
      </p:sp>
      <p:sp>
        <p:nvSpPr>
          <p:cNvPr id="275" name="Google Shape;275;g3abaf853488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c) Lưu trữ Hướng Cột</a:t>
            </a:r>
            <a:br>
              <a:rPr lang="vi-VN"/>
            </a:br>
            <a:endParaRPr/>
          </a:p>
        </p:txBody>
      </p:sp>
      <p:pic>
        <p:nvPicPr>
          <p:cNvPr id="281" name="Google Shape;2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254" y="1017725"/>
            <a:ext cx="6118430" cy="386857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916ba9e5e_0_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c) Lưu trữ Hướng Cột</a:t>
            </a:r>
            <a:br>
              <a:rPr lang="vi-VN"/>
            </a:br>
            <a:endParaRPr/>
          </a:p>
        </p:txBody>
      </p:sp>
      <p:pic>
        <p:nvPicPr>
          <p:cNvPr id="288" name="Google Shape;288;g3a916ba9e5e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450" y="1017725"/>
            <a:ext cx="513474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g3a916ba9e5e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916ba9e5e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c) Lưu trữ Hướng Cột</a:t>
            </a:r>
            <a:br>
              <a:rPr lang="vi-VN"/>
            </a:br>
            <a:endParaRPr/>
          </a:p>
        </p:txBody>
      </p:sp>
      <p:pic>
        <p:nvPicPr>
          <p:cNvPr id="295" name="Google Shape;295;g3a916ba9e5e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100" y="934175"/>
            <a:ext cx="5535795" cy="40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a916ba9e5e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d) Khối Dữ liệu và Khung nhìn Vật lý hóa</a:t>
            </a:r>
            <a:br>
              <a:rPr lang="vi-VN"/>
            </a:br>
            <a:endParaRPr/>
          </a:p>
        </p:txBody>
      </p:sp>
      <p:sp>
        <p:nvSpPr>
          <p:cNvPr id="302" name="Google Shape;30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/>
              <a:t>Đây là các kỹ thuật </a:t>
            </a:r>
            <a:r>
              <a:rPr b="1" lang="vi-VN"/>
              <a:t>tính toán trước (precompute)</a:t>
            </a:r>
            <a:r>
              <a:rPr lang="vi-VN"/>
              <a:t> các kết quả tổng hợp (ví dụ: tổng doanh số theo ngày và sản phẩm) để </a:t>
            </a:r>
            <a:r>
              <a:rPr b="1" lang="vi-VN"/>
              <a:t>tăng tốc các truy vấn </a:t>
            </a:r>
            <a:r>
              <a:rPr lang="vi-VN"/>
              <a:t>phân tích, thay vì tính toán trên dữ liệu thô (raw data) mỗi lần.</a:t>
            </a:r>
            <a:endParaRPr/>
          </a:p>
        </p:txBody>
      </p:sp>
      <p:sp>
        <p:nvSpPr>
          <p:cNvPr id="303" name="Google Shape;30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4 – d) Khối Dữ liệu và Khung nhìn Vật lý hóa</a:t>
            </a:r>
            <a:br>
              <a:rPr lang="vi-VN"/>
            </a:br>
            <a:endParaRPr/>
          </a:p>
        </p:txBody>
      </p:sp>
      <p:pic>
        <p:nvPicPr>
          <p:cNvPr id="309" name="Google Shape;3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957" y="1017725"/>
            <a:ext cx="6998085" cy="36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vi-VN"/>
              <a:t>Tham khảo</a:t>
            </a:r>
            <a:endParaRPr/>
          </a:p>
        </p:txBody>
      </p:sp>
      <p:sp>
        <p:nvSpPr>
          <p:cNvPr id="316" name="Google Shape;31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vi-VN"/>
              <a:t>Chapter 3 - Storage &amp; Retrieval - Designing Data Intensive applications book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 u="sng">
                <a:solidFill>
                  <a:schemeClr val="hlink"/>
                </a:solidFill>
                <a:hlinkClick r:id="rId3"/>
              </a:rPr>
              <a:t>Kunal Cholera</a:t>
            </a:r>
            <a:r>
              <a:rPr lang="vi-VN"/>
              <a:t> - </a:t>
            </a:r>
            <a:r>
              <a:rPr b="1" lang="vi-VN"/>
              <a:t>Chapter 3 - Storage &amp; Retrieval - Designing Data Intensive applications book review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vi-VN" u="sng">
                <a:solidFill>
                  <a:schemeClr val="hlink"/>
                </a:solidFill>
                <a:hlinkClick r:id="rId4"/>
              </a:rPr>
              <a:t>Kunal Cholera</a:t>
            </a:r>
            <a:r>
              <a:rPr lang="vi-VN"/>
              <a:t> - </a:t>
            </a:r>
            <a:r>
              <a:rPr lang="vi-VN" u="sng">
                <a:solidFill>
                  <a:schemeClr val="hlink"/>
                </a:solidFill>
                <a:hlinkClick r:id="rId5"/>
              </a:rPr>
              <a:t>https://www.kunalcholera.com/slides/</a:t>
            </a:r>
            <a:endParaRPr/>
          </a:p>
        </p:txBody>
      </p:sp>
      <p:sp>
        <p:nvSpPr>
          <p:cNvPr id="317" name="Google Shape;31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